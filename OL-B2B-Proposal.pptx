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114800" cy="4114800"/>
          </a:xfrm>
          <a:prstGeom prst="ellipse">
            <a:avLst/>
          </a:prstGeom>
          <a:solidFill>
            <a:srgbClr val="1B3A6B">
              <a:alpha val="60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097280"/>
            <a:ext cx="2926080" cy="29260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1828800" cy="1828800"/>
          </a:xfrm>
          <a:prstGeom prst="ellipse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3840480"/>
            <a:ext cx="914400" cy="914400"/>
          </a:xfrm>
          <a:prstGeom prst="ellipse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502920"/>
            <a:ext cx="16916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5029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SOLUTION PROPOSAL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960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Operating Lease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84048" y="1645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</a:rPr>
              <a:t>B2B Platform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84048" y="24871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4D8"/>
                </a:solidFill>
              </a:rPr>
              <a:t>ระบบบริหารสัญญาเช่าซื้อยานยนต์ B2B ครบวงจร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" y="3035808"/>
            <a:ext cx="1554480" cy="274320"/>
          </a:xfrm>
          <a:prstGeom prst="rect">
            <a:avLst/>
          </a:prstGeom>
          <a:solidFill>
            <a:srgbClr val="243F80"/>
          </a:solidFill>
          <a:ln w="12700">
            <a:solidFill>
              <a:srgbClr val="3B5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4E8"/>
                </a:solidFill>
              </a:rPr>
              <a:t>Core Leasing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048256" y="3035808"/>
            <a:ext cx="1554480" cy="274320"/>
          </a:xfrm>
          <a:prstGeom prst="rect">
            <a:avLst/>
          </a:prstGeom>
          <a:solidFill>
            <a:srgbClr val="243F80"/>
          </a:solidFill>
          <a:ln w="12700">
            <a:solidFill>
              <a:srgbClr val="3B5A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48256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4E8"/>
                </a:solidFill>
              </a:rPr>
              <a:t>Fleet Mgmt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712464" y="3035808"/>
            <a:ext cx="1554480" cy="274320"/>
          </a:xfrm>
          <a:prstGeom prst="rect">
            <a:avLst/>
          </a:prstGeom>
          <a:solidFill>
            <a:srgbClr val="243F80"/>
          </a:solidFill>
          <a:ln w="12700">
            <a:solidFill>
              <a:srgbClr val="3B5A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4E8"/>
                </a:solidFill>
              </a:rPr>
              <a:t>FIN &amp; ACC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376672" y="3035808"/>
            <a:ext cx="1554480" cy="274320"/>
          </a:xfrm>
          <a:prstGeom prst="rect">
            <a:avLst/>
          </a:prstGeom>
          <a:solidFill>
            <a:srgbClr val="243F80"/>
          </a:solidFill>
          <a:ln w="12700">
            <a:solidFill>
              <a:srgbClr val="3B5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4E8"/>
                </a:solidFill>
              </a:rPr>
              <a:t>CRM &amp; Sales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040880" y="3035808"/>
            <a:ext cx="1554480" cy="274320"/>
          </a:xfrm>
          <a:prstGeom prst="rect">
            <a:avLst/>
          </a:prstGeom>
          <a:solidFill>
            <a:srgbClr val="243F80"/>
          </a:solidFill>
          <a:ln w="12700">
            <a:solidFill>
              <a:srgbClr val="3B5A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4E8"/>
                </a:solidFill>
              </a:rPr>
              <a:t>Compliance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84048" y="3547872"/>
            <a:ext cx="4754880" cy="22860"/>
          </a:xfrm>
          <a:prstGeom prst="rect">
            <a:avLst/>
          </a:prstGeom>
          <a:solidFill>
            <a:srgbClr val="2A4A8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703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B8"/>
                </a:solidFill>
              </a:rPr>
              <a:t>มีนาคม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" y="39776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PREPARED FOR: บริษัท [ลูกค้า] จำกัด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77824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A80"/>
                </a:solidFill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ความท้าทายที่ธุรกิจ Operating Lease เผชิญอยู่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</a:rPr>
              <a:t>ทำไมต้องมีระบบใหม่?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</a:rPr>
              <a:t>CONFIDENTIAL  |  Operating Lease B2B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772400" y="4983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</a:rPr>
              <a:t>©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1078992"/>
            <a:ext cx="422452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78992"/>
            <a:ext cx="91440" cy="15727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307592"/>
            <a:ext cx="493776" cy="49377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49" y="1401409"/>
            <a:ext cx="306141" cy="30614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60704" y="1207008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ระบบแยกส่วน ไม่เชื่อมกัน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0624" y="1737360"/>
            <a:ext cx="3986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Fleet, บัญชี, CRM ทำงานแยก ข้อมูลไม่ real-time ต้องกรอกซ้ำหลายที่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81728" y="1078992"/>
            <a:ext cx="422452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81728" y="1078992"/>
            <a:ext cx="91440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10328" y="1307592"/>
            <a:ext cx="493776" cy="4937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145" y="1401409"/>
            <a:ext cx="306141" cy="30614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0" y="1207008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Manual Process สูง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846320" y="1737360"/>
            <a:ext cx="3986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ใช้ Excel บริหาร fleet 100+ คัน — คำนวณผิดพลาด, ขาด audit trail, ไม่ scalable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56032" y="2907792"/>
            <a:ext cx="422452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6032" y="2907792"/>
            <a:ext cx="91440" cy="15727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84632" y="3136392"/>
            <a:ext cx="493776" cy="49377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49" y="3230209"/>
            <a:ext cx="306141" cy="30614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60704" y="3035808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Compliance ซับซ้อน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20624" y="3566160"/>
            <a:ext cx="3986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TFRS16, TFRS9, E-Tax, E-WHT, พ.ร.ฎ.ลิสซิ่ง — คำนวณมือทั้งหมดไม่ทัน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681728" y="2907792"/>
            <a:ext cx="422452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681728" y="2907792"/>
            <a:ext cx="91440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910328" y="3136392"/>
            <a:ext cx="493776" cy="49377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145" y="3230209"/>
            <a:ext cx="306141" cy="30614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86400" y="3035808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ขาด Visibility &amp; Analytics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846320" y="3566160"/>
            <a:ext cx="3986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ทีม Sales ไม่รู้ Pipeline, ไม่เห็นสัญญาใกล้หมด, ไม่มี KPI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One Platform — 5 Domains ครบในระบบเดียว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</a:rPr>
              <a:t>ทุก module เชื่อมกัน ข้อมูลไหลอัตโนมัติ ไม่มีการกรอกซ้ำ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</a:rPr>
              <a:t>CONFIDENTIAL  |  Operating Lease B2B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772400" y="4983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</a:rPr>
              <a:t>©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64592" y="100584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1005840"/>
            <a:ext cx="157276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051560"/>
            <a:ext cx="438912" cy="438912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115568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10312" y="149961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CRM &amp; Sales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" y="1901952"/>
            <a:ext cx="1353312" cy="6217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19019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Pipeline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4320" y="2679192"/>
            <a:ext cx="1353312" cy="6217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267919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360° Profile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3456432"/>
            <a:ext cx="1353312" cy="6217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345643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Engagement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36" y="2560320"/>
            <a:ext cx="201168" cy="20116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947672" y="100584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947672" y="1005840"/>
            <a:ext cx="157276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514600" y="1051560"/>
            <a:ext cx="438912" cy="438912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08" y="1115568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993392" y="149961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Core Leasing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2057400" y="1901952"/>
            <a:ext cx="1353312" cy="6217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057400" y="19019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Quotation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2057400" y="2679192"/>
            <a:ext cx="1353312" cy="6217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057400" y="267919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MLA/Contract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2057400" y="3456432"/>
            <a:ext cx="1353312" cy="6217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057400" y="345643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Billing</a:t>
            </a:r>
            <a:endParaRPr lang="en-US" sz="9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2560320"/>
            <a:ext cx="201168" cy="201168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3730752" y="100584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730752" y="1005840"/>
            <a:ext cx="1572768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297680" y="1051560"/>
            <a:ext cx="438912" cy="438912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1115568"/>
            <a:ext cx="310896" cy="31089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776472" y="149961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Fleet Mgmt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3840480" y="1901952"/>
            <a:ext cx="1353312" cy="6217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3840480" y="19019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Asset Register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3840480" y="2679192"/>
            <a:ext cx="1353312" cy="6217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3840480" y="267919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Insurance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3840480" y="3456432"/>
            <a:ext cx="1353312" cy="6217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3840480" y="345643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Disposal</a:t>
            </a:r>
            <a:endParaRPr lang="en-US" sz="9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0096" y="2560320"/>
            <a:ext cx="201168" cy="201168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5513832" y="100584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5513832" y="1005840"/>
            <a:ext cx="157276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6080760" y="1051560"/>
            <a:ext cx="438912" cy="438912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1115568"/>
            <a:ext cx="310896" cy="310896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5559552" y="149961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 &amp; ACC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5623560" y="1901952"/>
            <a:ext cx="1353312" cy="6217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5623560" y="19019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GL/AR/AP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5623560" y="2679192"/>
            <a:ext cx="1353312" cy="6217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5623560" y="267919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Fixed Assets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5623560" y="3456432"/>
            <a:ext cx="1353312" cy="6217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5623560" y="345643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E-Documents</a:t>
            </a:r>
            <a:endParaRPr lang="en-US" sz="900" dirty="0"/>
          </a:p>
        </p:txBody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3176" y="2560320"/>
            <a:ext cx="201168" cy="201168"/>
          </a:xfrm>
          <a:prstGeom prst="rect">
            <a:avLst/>
          </a:prstGeom>
        </p:spPr>
      </p:pic>
      <p:sp>
        <p:nvSpPr>
          <p:cNvPr id="56" name="Shape 46"/>
          <p:cNvSpPr/>
          <p:nvPr/>
        </p:nvSpPr>
        <p:spPr>
          <a:xfrm>
            <a:off x="7296912" y="100584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7" name="Shape 47"/>
          <p:cNvSpPr/>
          <p:nvPr/>
        </p:nvSpPr>
        <p:spPr>
          <a:xfrm>
            <a:off x="7296912" y="1005840"/>
            <a:ext cx="157276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Shape 48"/>
          <p:cNvSpPr/>
          <p:nvPr/>
        </p:nvSpPr>
        <p:spPr>
          <a:xfrm>
            <a:off x="7863840" y="1051560"/>
            <a:ext cx="438912" cy="438912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7848" y="1115568"/>
            <a:ext cx="310896" cy="310896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7342632" y="149961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Compliance</a:t>
            </a:r>
            <a:endParaRPr lang="en-US" sz="900" dirty="0"/>
          </a:p>
        </p:txBody>
      </p:sp>
      <p:sp>
        <p:nvSpPr>
          <p:cNvPr id="61" name="Shape 50"/>
          <p:cNvSpPr/>
          <p:nvPr/>
        </p:nvSpPr>
        <p:spPr>
          <a:xfrm>
            <a:off x="7406640" y="1901952"/>
            <a:ext cx="1353312" cy="6217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51"/>
          <p:cNvSpPr/>
          <p:nvPr/>
        </p:nvSpPr>
        <p:spPr>
          <a:xfrm>
            <a:off x="7406640" y="19019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TFRS16/9</a:t>
            </a:r>
            <a:endParaRPr lang="en-US" sz="900" dirty="0"/>
          </a:p>
        </p:txBody>
      </p:sp>
      <p:sp>
        <p:nvSpPr>
          <p:cNvPr id="63" name="Shape 52"/>
          <p:cNvSpPr/>
          <p:nvPr/>
        </p:nvSpPr>
        <p:spPr>
          <a:xfrm>
            <a:off x="7406640" y="2679192"/>
            <a:ext cx="1353312" cy="6217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53"/>
          <p:cNvSpPr/>
          <p:nvPr/>
        </p:nvSpPr>
        <p:spPr>
          <a:xfrm>
            <a:off x="7406640" y="267919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พ.ร.ฎ.ลิสซิ่ง</a:t>
            </a:r>
            <a:endParaRPr lang="en-US" sz="900" dirty="0"/>
          </a:p>
        </p:txBody>
      </p:sp>
      <p:sp>
        <p:nvSpPr>
          <p:cNvPr id="65" name="Shape 54"/>
          <p:cNvSpPr/>
          <p:nvPr/>
        </p:nvSpPr>
        <p:spPr>
          <a:xfrm>
            <a:off x="7406640" y="3456432"/>
            <a:ext cx="1353312" cy="6217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55"/>
          <p:cNvSpPr/>
          <p:nvPr/>
        </p:nvSpPr>
        <p:spPr>
          <a:xfrm>
            <a:off x="7406640" y="345643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E-Filing</a:t>
            </a:r>
            <a:endParaRPr lang="en-US" sz="900" dirty="0"/>
          </a:p>
        </p:txBody>
      </p:sp>
      <p:sp>
        <p:nvSpPr>
          <p:cNvPr id="67" name="Text 56"/>
          <p:cNvSpPr/>
          <p:nvPr/>
        </p:nvSpPr>
        <p:spPr>
          <a:xfrm>
            <a:off x="274320" y="44622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21 Modules | Vue 3 + TypeScript + Vuetify 3 | TFRS16 / TFRS9 Built-in | E-Document Suite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Coverage Matrix — ครอบคลุมทุก Requirement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</a:rPr>
              <a:t>ตรวจสอบรายการ Comply Table ของลูกค้าเทียบกับ Solution ที่เรานำเสนอ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</a:rPr>
              <a:t>CONFIDENTIAL  |  Operating Lease B2B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772400" y="4983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</a:rPr>
              <a:t>©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858000" y="201168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59168" y="1828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Fully Covered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138160" y="219456"/>
            <a:ext cx="475488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41080" y="1828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Key Diff.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4592" y="960120"/>
            <a:ext cx="8814816" cy="27432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960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CATEGORY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17904" y="960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REQUIREMENT ITEMS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58000" y="960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MODULE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991856" y="9601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STATUS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4592" y="1234440"/>
            <a:ext cx="8814816" cy="17922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1234440"/>
            <a:ext cx="1316736" cy="3584448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" y="1413662"/>
            <a:ext cx="1316736" cy="322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</a:rPr>
              <a:t>CORE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</a:rPr>
              <a:t>LEASING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517904" y="1234440"/>
            <a:ext cx="530352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Quotation (PD14, SINGLE &amp; BATCH mode)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58000" y="1234440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66176" y="1261872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93024" y="1234440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4592" y="1413662"/>
            <a:ext cx="8814816" cy="179222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17904" y="1413662"/>
            <a:ext cx="530352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KYC &amp; Credit Scoring (with PDPA and Consent)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58000" y="1413662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12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266176" y="1441094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93024" y="1413662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64592" y="1592885"/>
            <a:ext cx="8814816" cy="17922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17904" y="1592885"/>
            <a:ext cx="530352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Support many contract types (OL / FL / Loan / HP)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858000" y="1592885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6,11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266176" y="1620317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93024" y="1592885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64592" y="1772107"/>
            <a:ext cx="8814816" cy="179222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17904" y="1772107"/>
            <a:ext cx="530352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New / Renew / Extend / Re-structure / Re-marketing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858000" y="1772107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11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66176" y="1799539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93024" y="1772107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4592" y="1951330"/>
            <a:ext cx="8814816" cy="17922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17904" y="1951330"/>
            <a:ext cx="530352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Sale &amp; Lease back / Amendment / Transfer / Sublease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858000" y="1951330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11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266176" y="1978762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93024" y="1951330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64592" y="2130552"/>
            <a:ext cx="8814816" cy="179222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517904" y="2130552"/>
            <a:ext cx="530352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Settle &amp; Termination (incl. Loss &amp; Total Loss)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858000" y="2130552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11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266176" y="2157984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93024" y="2130552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64592" y="2309774"/>
            <a:ext cx="8814816" cy="17922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17904" y="2309774"/>
            <a:ext cx="530352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New / Used assets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858000" y="2309774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4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266176" y="2337206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93024" y="2309774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64592" y="2488997"/>
            <a:ext cx="8814816" cy="179222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17904" y="2488997"/>
            <a:ext cx="530352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Procurement &amp; Delivery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858000" y="2488997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17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8266176" y="2516429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93024" y="2488997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64592" y="2668219"/>
            <a:ext cx="8814816" cy="17922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517904" y="2668219"/>
            <a:ext cx="530352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Down payment / Initial payment / Security deposit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858000" y="2668219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11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266176" y="2695651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93024" y="2668219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64592" y="2847442"/>
            <a:ext cx="8814816" cy="179222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517904" y="2847442"/>
            <a:ext cx="530352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Payment schedule (Advance/Arrear, Straight/Step Up-Down)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858000" y="2847442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5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8266176" y="2874874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93024" y="2847442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64592" y="3026664"/>
            <a:ext cx="8814816" cy="17922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517904" y="3026664"/>
            <a:ext cx="530352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Pricing structure (with / without service)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858000" y="3026664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3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266176" y="3054096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193024" y="3026664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64592" y="3205886"/>
            <a:ext cx="8814816" cy="179222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517904" y="3205886"/>
            <a:ext cx="530352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 contract: 1 or multiple assets (Equipment Schedule)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858000" y="3205886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7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266176" y="3233318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193024" y="3205886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64592" y="3385109"/>
            <a:ext cx="8814816" cy="17922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517904" y="3385109"/>
            <a:ext cx="47548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Unlimited User Defined Fields (UDF)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309360" y="3412541"/>
            <a:ext cx="493776" cy="12435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09360" y="3412541"/>
            <a:ext cx="49377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KEY DIFF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6858000" y="3385109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13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8266176" y="3412541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193024" y="3385109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164592" y="3564331"/>
            <a:ext cx="8814816" cy="179222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517904" y="3564331"/>
            <a:ext cx="530352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DR / TDR (Debt Restructuring)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858000" y="3564331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13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8266176" y="3591763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193024" y="3564331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64592" y="3743554"/>
            <a:ext cx="8814816" cy="17922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517904" y="3743554"/>
            <a:ext cx="530352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Fixed / Floating rate (Yield, IRR, EIR)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6858000" y="3743554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13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8266176" y="3770986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193024" y="3743554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164592" y="3922776"/>
            <a:ext cx="8814816" cy="179222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517904" y="3922776"/>
            <a:ext cx="530352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Debtor management &amp; Aging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6858000" y="3922776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12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8266176" y="3950208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93024" y="3922776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64592" y="4101998"/>
            <a:ext cx="8814816" cy="17922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517904" y="4101998"/>
            <a:ext cx="530352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Legal and Seize process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6858000" y="4101998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12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8266176" y="4129430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193024" y="4101998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164592" y="4281221"/>
            <a:ext cx="8814816" cy="179222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517904" y="4281221"/>
            <a:ext cx="530352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NCB (Credit Bureau)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6858000" y="4281221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12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8266176" y="4308653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193024" y="4281221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164592" y="4460443"/>
            <a:ext cx="8814816" cy="17922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517904" y="4460443"/>
            <a:ext cx="530352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TFRS9 (ECL Staging, PD/LGD/EAD)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6858000" y="4460443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13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8266176" y="4487875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193024" y="4460443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164592" y="4639666"/>
            <a:ext cx="8814816" cy="179222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517904" y="4639666"/>
            <a:ext cx="530352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*พ.ร.ฎ.ลิสซิ่ง* Compliance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6858000" y="4639666"/>
            <a:ext cx="109728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PROMPT 13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8266176" y="4667098"/>
            <a:ext cx="124358" cy="12435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193024" y="4639666"/>
            <a:ext cx="34381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164592" y="4873752"/>
            <a:ext cx="8814816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56032" y="4873752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CORE LEASING: 20 items  |  ✓ All Covered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Coverage Matrix — FIN &amp; ACC / Fleet / CRM &amp; Engagement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</a:rPr>
              <a:t>ครอบคลุมทุก Category ใน Comply Table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</a:rPr>
              <a:t>CONFIDENTIAL  |  Operating Lease B2B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772400" y="4983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</a:rPr>
              <a:t>©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64592" y="960120"/>
            <a:ext cx="8814816" cy="27432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960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CATEGORY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17904" y="960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REQUIREMENT ITEMS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0" y="960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MODULE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91856" y="9601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STATUS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64592" y="1234440"/>
            <a:ext cx="1316736" cy="786384"/>
          </a:xfrm>
          <a:prstGeom prst="rect">
            <a:avLst/>
          </a:prstGeom>
          <a:solidFill>
            <a:srgbClr val="EDF7E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1234440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FIN &amp; ACC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481328" y="1234440"/>
            <a:ext cx="749808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17904" y="1234440"/>
            <a:ext cx="53035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Billing and Collection (Receipt, SOA, Bank Recon)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6858000" y="1234440"/>
            <a:ext cx="10972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PROMPT 14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8266176" y="1266444"/>
            <a:ext cx="132588" cy="1325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93024" y="1234440"/>
            <a:ext cx="3429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481328" y="1431036"/>
            <a:ext cx="7498080" cy="196596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17904" y="1431036"/>
            <a:ext cx="53035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GL, AR, AP (Chart of Accounts, Journal Entry)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858000" y="1431036"/>
            <a:ext cx="10972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PROMPT 14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8266176" y="1463040"/>
            <a:ext cx="132588" cy="1325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93024" y="1431036"/>
            <a:ext cx="3429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481328" y="1627632"/>
            <a:ext cx="749808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17904" y="1627632"/>
            <a:ext cx="47548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Fixed Assets — Lessor perspective (FA Register, Depreciation)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309360" y="1655064"/>
            <a:ext cx="493776" cy="1417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1655064"/>
            <a:ext cx="493776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KEY DIFF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858000" y="1627632"/>
            <a:ext cx="10972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PROMPT 15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8266176" y="1659636"/>
            <a:ext cx="132588" cy="1325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93024" y="1627632"/>
            <a:ext cx="3429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481328" y="1824228"/>
            <a:ext cx="7498080" cy="196596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17904" y="1824228"/>
            <a:ext cx="53035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E-invoice, E-tax, E-wht, E-receipt, E-payment, E-filing, E-stamp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6858000" y="1824228"/>
            <a:ext cx="10972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PROMPT 16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8266176" y="1856232"/>
            <a:ext cx="132588" cy="1325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93024" y="1824228"/>
            <a:ext cx="3429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64592" y="2020824"/>
            <a:ext cx="1316736" cy="1179576"/>
          </a:xfrm>
          <a:prstGeom prst="rect">
            <a:avLst/>
          </a:prstGeom>
          <a:solidFill>
            <a:srgbClr val="F0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" y="2020824"/>
            <a:ext cx="131673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FLEET MGMT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481328" y="2020824"/>
            <a:ext cx="749808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17904" y="2020824"/>
            <a:ext cx="47548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Stock / Port Management / Procurement (PR→PO→GR→3-Way Match)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309360" y="2048256"/>
            <a:ext cx="493776" cy="1417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2048256"/>
            <a:ext cx="493776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KEY DIFF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6858000" y="2020824"/>
            <a:ext cx="10972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PROMPT 17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8266176" y="2052828"/>
            <a:ext cx="132588" cy="1325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93024" y="2020824"/>
            <a:ext cx="3429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481328" y="2217420"/>
            <a:ext cx="7498080" cy="196596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17904" y="2217420"/>
            <a:ext cx="53035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พรบ / ประกัน / ภาษีรถยนต์ (Annual renewal tracking)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6858000" y="2217420"/>
            <a:ext cx="10972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PROMPT 18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8266176" y="2249424"/>
            <a:ext cx="132588" cy="1325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93024" y="2217420"/>
            <a:ext cx="3429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481328" y="2414016"/>
            <a:ext cx="749808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517904" y="2414016"/>
            <a:ext cx="53035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MA — Maintenance Agreement &amp; SLA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6858000" y="2414016"/>
            <a:ext cx="10972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PROMPT 18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8266176" y="2446020"/>
            <a:ext cx="132588" cy="1325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93024" y="2414016"/>
            <a:ext cx="3429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481328" y="2610612"/>
            <a:ext cx="7498080" cy="196596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517904" y="2610612"/>
            <a:ext cx="53035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Car Replacement (Asset Substitution — swap SN ไม่ต้องทำสัญญาใหม่)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6858000" y="2610612"/>
            <a:ext cx="10972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PROMPT 4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8266176" y="2642616"/>
            <a:ext cx="132588" cy="1325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93024" y="2610612"/>
            <a:ext cx="3429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481328" y="2807208"/>
            <a:ext cx="749808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17904" y="2807208"/>
            <a:ext cx="53035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Accident / Claim (→ Work Order หรือ Total Loss)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6858000" y="2807208"/>
            <a:ext cx="10972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PROMPT 18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8266176" y="2839212"/>
            <a:ext cx="132588" cy="1325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93024" y="2807208"/>
            <a:ext cx="3429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481328" y="3003804"/>
            <a:ext cx="7498080" cy="196596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17904" y="3003804"/>
            <a:ext cx="53035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Disposal &amp; Remarketing (Return Inspection, Valuation, Auction)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6858000" y="3003804"/>
            <a:ext cx="10972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PROMPT 19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8266176" y="3035808"/>
            <a:ext cx="132588" cy="1325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193024" y="3003804"/>
            <a:ext cx="3429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64592" y="3200400"/>
            <a:ext cx="1316736" cy="786384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64592" y="3200400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CRM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ENGAGE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481328" y="3200400"/>
            <a:ext cx="749808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517904" y="3200400"/>
            <a:ext cx="53035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Social Engagement (LINE OA, Email/SMS, Customer Portal, Auto-Alert)</a:t>
            </a:r>
            <a:endParaRPr lang="en-US" sz="820" dirty="0"/>
          </a:p>
        </p:txBody>
      </p:sp>
      <p:sp>
        <p:nvSpPr>
          <p:cNvPr id="75" name="Text 73"/>
          <p:cNvSpPr/>
          <p:nvPr/>
        </p:nvSpPr>
        <p:spPr>
          <a:xfrm>
            <a:off x="6858000" y="3200400"/>
            <a:ext cx="10972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PROMPT 20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8266176" y="3232404"/>
            <a:ext cx="132588" cy="1325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193024" y="3200400"/>
            <a:ext cx="3429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481328" y="3396996"/>
            <a:ext cx="7498080" cy="196596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517904" y="3396996"/>
            <a:ext cx="53035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Customer Data — 360° Profile, Segmentation, PDPA Consent, Interactions</a:t>
            </a:r>
            <a:endParaRPr lang="en-US" sz="820" dirty="0"/>
          </a:p>
        </p:txBody>
      </p:sp>
      <p:sp>
        <p:nvSpPr>
          <p:cNvPr id="80" name="Text 78"/>
          <p:cNvSpPr/>
          <p:nvPr/>
        </p:nvSpPr>
        <p:spPr>
          <a:xfrm>
            <a:off x="6858000" y="3396996"/>
            <a:ext cx="10972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PROMPT 20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8266176" y="3429000"/>
            <a:ext cx="132588" cy="1325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193024" y="3396996"/>
            <a:ext cx="3429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481328" y="3593592"/>
            <a:ext cx="749808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517904" y="3593592"/>
            <a:ext cx="53035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Sale Activity (Pipeline, Opportunity, Activity Log)</a:t>
            </a:r>
            <a:endParaRPr lang="en-US" sz="820" dirty="0"/>
          </a:p>
        </p:txBody>
      </p:sp>
      <p:sp>
        <p:nvSpPr>
          <p:cNvPr id="85" name="Text 83"/>
          <p:cNvSpPr/>
          <p:nvPr/>
        </p:nvSpPr>
        <p:spPr>
          <a:xfrm>
            <a:off x="6858000" y="3593592"/>
            <a:ext cx="10972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PROMPT 21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8266176" y="3625596"/>
            <a:ext cx="132588" cy="1325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193024" y="3593592"/>
            <a:ext cx="3429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481328" y="3790188"/>
            <a:ext cx="7498080" cy="196596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517904" y="3790188"/>
            <a:ext cx="53035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Sale Performance (Target vs Actual, Commission, Win/Loss)</a:t>
            </a:r>
            <a:endParaRPr lang="en-US" sz="820" dirty="0"/>
          </a:p>
        </p:txBody>
      </p:sp>
      <p:sp>
        <p:nvSpPr>
          <p:cNvPr id="90" name="Text 88"/>
          <p:cNvSpPr/>
          <p:nvPr/>
        </p:nvSpPr>
        <p:spPr>
          <a:xfrm>
            <a:off x="6858000" y="3790188"/>
            <a:ext cx="10972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PROMPT 21</a:t>
            </a:r>
            <a:endParaRPr lang="en-US" sz="780" dirty="0"/>
          </a:p>
        </p:txBody>
      </p:sp>
      <p:sp>
        <p:nvSpPr>
          <p:cNvPr id="91" name="Shape 89"/>
          <p:cNvSpPr/>
          <p:nvPr/>
        </p:nvSpPr>
        <p:spPr>
          <a:xfrm>
            <a:off x="8266176" y="3822192"/>
            <a:ext cx="132588" cy="1325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193024" y="3790188"/>
            <a:ext cx="3429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164592" y="4023360"/>
            <a:ext cx="8814816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56032" y="4023360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TOTAL: 34 Requirement Items  |  ✓ All Covered  |  21 Modules  |  0 Gaps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</a:rPr>
              <a:t>CONFIDENTIAL  |  Operating Lease B2B Platform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4983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</a:rPr>
              <a:t>©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28016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 สิ่งที่ทำให้เราแตกต่างจากคู่แข่ง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Key Differentiators ที่ระบบอื่นในตลาดยังไม่มีครบ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932688"/>
            <a:ext cx="8631936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932688"/>
            <a:ext cx="10972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6984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60704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097280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44752" y="9875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Asset Substitution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444752" y="12984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</a:rPr>
              <a:t>เปลี่ยน Serial Number ของรถในสัญญาได้ทันที โดยไม่ต้องยกเลิก/ทำสัญญาใหม่ — ลดภาระลูกค้า fleet ขนาดใหญ่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6032" y="1691640"/>
            <a:ext cx="8631936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6032" y="1691640"/>
            <a:ext cx="109728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18288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1819656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56232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444752" y="17465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Unlimited User Defined Fields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444752" y="20574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</a:rPr>
              <a:t>ลูกค้า config field ข้อมูลได้ไม่จำกัด ไม่รอ IT — ตอบรับธุรกิจที่มีข้อมูล custom สูง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56032" y="2450592"/>
            <a:ext cx="8631936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56032" y="2450592"/>
            <a:ext cx="109728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57200" y="2587752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57200" y="2578608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15184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444752" y="250545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TFRS16 + TFRS9 Built-in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1444752" y="28163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</a:rPr>
              <a:t>คำนวณ ROU Asset, Lease Liability, ECL Staging (Stage 1/2/3) อัตโนมัติ — ลด manual งาน accounting 80%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256032" y="3209544"/>
            <a:ext cx="8631936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56032" y="3209544"/>
            <a:ext cx="109728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57200" y="3346704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57200" y="3337560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374136"/>
            <a:ext cx="347472" cy="34747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444752" y="32644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Auto-Engagement Suite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1444752" y="357530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</a:rPr>
              <a:t>ส่ง LINE OA / Email / SMS แจ้งลูกค้าอัตโนมัติเมื่อสัญญาใกล้หมด, ประกันหมดอายุ, ค้างชำระ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256032" y="3968496"/>
            <a:ext cx="8631936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256032" y="3968496"/>
            <a:ext cx="109728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57200" y="4105656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57200" y="4096512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133088"/>
            <a:ext cx="347472" cy="34747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444752" y="40233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E-Document Suite ครบ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1444752" y="433425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</a:rPr>
              <a:t>E-Tax Invoice, E-WHT (PND3/53), E-Stamp, E-Receipt, E-Payment, E-Filing (ภ.พ.30/ภ.ง.ด.) ใน platform เดียว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User Journey — จาก Lead สู่ Disposal ครบวงจร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</a:rPr>
              <a:t>6 Journey หลักที่ระบบรองรับ ครอบคลุมทุก touchpoint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</a:rPr>
              <a:t>CONFIDENTIAL  |  Operating Lease B2B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772400" y="4983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</a:rPr>
              <a:t>©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987552"/>
            <a:ext cx="418795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87552"/>
            <a:ext cx="418795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9875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987552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Sales Journey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1371600"/>
            <a:ext cx="3968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Lead → Opportunity → Quotation → MLA → Equipment Schedule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987552"/>
            <a:ext cx="418795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87552"/>
            <a:ext cx="418795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9875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48656" y="987552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Contract Journey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91456" y="1371600"/>
            <a:ext cx="3968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New Contract → Events (Renew/ET/TL/SLB) → Amendment → Settle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249424"/>
            <a:ext cx="418795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249424"/>
            <a:ext cx="418795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2494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" y="2249424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Fleet Journey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2633472"/>
            <a:ext cx="3968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PR → PO → GR → PDI → Active Fleet → Substitution → Return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249424"/>
            <a:ext cx="418795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249424"/>
            <a:ext cx="418795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2494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48656" y="2249424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Billing Journey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91456" y="2633472"/>
            <a:ext cx="3968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Invoice → Receipt → SOA → AR Aging → Bank Recon → GL Post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3511296"/>
            <a:ext cx="418795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3511296"/>
            <a:ext cx="418795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5112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1248" y="3511296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Fleet Ops Journey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" y="3895344"/>
            <a:ext cx="3968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Insurance Renewal → Accident → Claim → Work Order → Repair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3511296"/>
            <a:ext cx="418795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511296"/>
            <a:ext cx="4187952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5112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48656" y="3511296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Disposal Journey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91456" y="3895344"/>
            <a:ext cx="3968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Return Inspection (FWT) → Valuation → Auction → FA Disposal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Implementation Roadmap — 12 เดือน Go-Live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</a:rPr>
              <a:t>Phased delivery เพื่อ quick wins และ risk management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</a:rPr>
              <a:t>CONFIDENTIAL  |  Operating Lease B2B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772400" y="4983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</a:rPr>
              <a:t>©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1179576"/>
            <a:ext cx="8631936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06984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069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1490472"/>
            <a:ext cx="2048256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490472"/>
            <a:ext cx="2048256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5087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181051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เดือน 1–3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21671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Core Leasing &amp; KYC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258775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3288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Quotation (PD14)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302666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7180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Customer B2B + KYC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4048" y="346557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1071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MLA + Equipment Schedule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" y="390448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49624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Contract Events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434340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8853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Basic Dashboard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37560" y="1069848"/>
            <a:ext cx="274320" cy="2743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1069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50592" y="1490472"/>
            <a:ext cx="2048256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50592" y="1490472"/>
            <a:ext cx="2048256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42032" y="15087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42032" y="181051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เดือน 4–6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42032" y="21671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Fleet &amp; Finance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78608" y="2587752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253288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Asset Register + Substitution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78608" y="3026664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0" y="297180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Procurement (PR/PO/GR)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78608" y="3465576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341071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Insurance / พรบ / ภาษี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78608" y="3904488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0" y="3849624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Billing + Invoice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578608" y="4343400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0" y="428853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GL / AR / AP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532120" y="106984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32120" y="1069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45152" y="1490472"/>
            <a:ext cx="2048256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45152" y="1490472"/>
            <a:ext cx="2048256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15087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36592" y="181051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เดือน 7–9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36592" y="21671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Compliance &amp; E-Doc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73168" y="258775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253288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TFRS16 / TFRS9 Engine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73168" y="302666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0" y="297180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Fixed Assets (Lessor)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73168" y="346557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341071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E-Tax Invoice / E-WHT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73168" y="390448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3849624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E-Filing Dashboard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773168" y="434340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37760" y="428853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Accident / Disposal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726680" y="106984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26680" y="1069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839712" y="1490472"/>
            <a:ext cx="2048256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839712" y="1490472"/>
            <a:ext cx="204825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31152" y="15087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931152" y="181051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เดือน 10–12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931152" y="21671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CRM &amp; Go-Live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967728" y="258775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32320" y="253288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CRM 360° + Engagement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967728" y="302666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32320" y="297180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Sales Pipeline &amp; Performance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967728" y="346557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32320" y="341071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UAT &amp; User Training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967728" y="39044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32320" y="3849624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Data Migration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967728" y="434340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32320" y="428853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Production Go-Live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Team &amp; Our Approach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</a:rPr>
              <a:t>ทีมที่มีประสบการณ์ธุรกิจ Leasing โดยตรง ไม่ใช่แค่ทีม Software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</a:rPr>
              <a:t>CONFIDENTIAL  |  Operating Lease B2B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772400" y="4983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</a:rPr>
              <a:t>©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6032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</a:rPr>
              <a:t>ทีมงาน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1298448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298448"/>
            <a:ext cx="73152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3502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57"/>
                </a:solidFill>
              </a:rPr>
              <a:t>Project Manager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157276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Leasing Domain Expert, 10+ ปีในธุรกิจ Hire Purchase &amp; OL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1975104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975104"/>
            <a:ext cx="73152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01168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57"/>
                </a:solidFill>
              </a:rPr>
              <a:t>Business Analyst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22494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เชี่ยวชาญ TFRS16/9, E-Tax compliance, Fleet workflow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651760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651760"/>
            <a:ext cx="73152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688336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57"/>
                </a:solidFill>
              </a:rPr>
              <a:t>Solution Architect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292608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Vue 3 + TypeScript, Microservice, API-first design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3328416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328416"/>
            <a:ext cx="73152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36499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57"/>
                </a:solidFill>
              </a:rPr>
              <a:t>Dev Team (4 คน)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" y="360273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Frontend (Vue/Vuexy), Backend (Node/Go), DevOps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4005072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4005072"/>
            <a:ext cx="73152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04164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57"/>
                </a:solidFill>
              </a:rPr>
              <a:t>QA &amp; Testing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427939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Test automation, UAT support, Performance testing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90288" y="960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</a:rPr>
              <a:t>วิธีการทำงาน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90288" y="1298448"/>
            <a:ext cx="429768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90288" y="1298448"/>
            <a:ext cx="73152" cy="10424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18304" y="1426464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1697" y="1509857"/>
            <a:ext cx="272125" cy="272125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248656" y="137160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557"/>
                </a:solidFill>
              </a:rPr>
              <a:t>Domain-First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5248656" y="1700784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เราเข้าใจ OL Business ก่อนเขียน code ทุก feature ออกแบบตาม business process จริง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590288" y="2468880"/>
            <a:ext cx="429768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590288" y="2468880"/>
            <a:ext cx="73152" cy="10424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18304" y="2596896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697" y="2680289"/>
            <a:ext cx="272125" cy="272125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5248656" y="254203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557"/>
                </a:solidFill>
              </a:rPr>
              <a:t>Agile Delivery</a:t>
            </a:r>
            <a:endParaRPr lang="en-US" sz="1150" dirty="0"/>
          </a:p>
        </p:txBody>
      </p:sp>
      <p:sp>
        <p:nvSpPr>
          <p:cNvPr id="41" name="Text 37"/>
          <p:cNvSpPr/>
          <p:nvPr/>
        </p:nvSpPr>
        <p:spPr>
          <a:xfrm>
            <a:off x="5248656" y="2871216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Sprint 2 สัปดาห์ + Demo ทุก sprint ลูกค้าเห็น progress ตลอด ไม่รอ 6 เดือน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4590288" y="3639312"/>
            <a:ext cx="429768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4590288" y="3639312"/>
            <a:ext cx="73152" cy="10424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4718304" y="3767328"/>
            <a:ext cx="438912" cy="43891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697" y="3850721"/>
            <a:ext cx="272125" cy="272125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5248656" y="3712464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557"/>
                </a:solidFill>
              </a:rPr>
              <a:t>Long-term Partner</a:t>
            </a:r>
            <a:endParaRPr lang="en-US" sz="1150" dirty="0"/>
          </a:p>
        </p:txBody>
      </p:sp>
      <p:sp>
        <p:nvSpPr>
          <p:cNvPr id="47" name="Text 42"/>
          <p:cNvSpPr/>
          <p:nvPr/>
        </p:nvSpPr>
        <p:spPr>
          <a:xfrm>
            <a:off x="5248656" y="4041648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Support ต่อเนื่อง, Regulatory update (TFRS, E-Tax) ตาม cycle ราชการ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3657600" cy="3657600"/>
          </a:xfrm>
          <a:prstGeom prst="ellipse">
            <a:avLst/>
          </a:prstGeom>
          <a:solidFill>
            <a:srgbClr val="1B3A6B">
              <a:alpha val="50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2286000" cy="2286000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ทำไมต้องเลือกเรา?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7472" y="731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3 เหตุผลที่ลูกค้าชั้นนำในธุรกิจ Leasing ไว้วางใจ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133856"/>
            <a:ext cx="8046720" cy="950976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33856"/>
            <a:ext cx="91440" cy="9509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37160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33856" y="122529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เข้าใจ OL Business ไม่ใช่แค่ Software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33856" y="1554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B8D8"/>
                </a:solidFill>
              </a:rPr>
              <a:t>ทีมมีประสบการณ์ธุรกิจ Hire Purchase &amp; Leasing โดยตรง ทุก feature ออกแบบตาม real business workflow ไม่ใช่แค่ copy requirement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2212848"/>
            <a:ext cx="8046720" cy="950976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212848"/>
            <a:ext cx="91440" cy="9509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45059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50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3856" y="230428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ครบทุกข้อใน Comply Table — รวม Key Differentiators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3856" y="263347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B8D8"/>
                </a:solidFill>
              </a:rPr>
              <a:t>34 requirement items ✓ All covered, รวมถึง TFRS16/9, Unlimited UDF, E-Document Suite, Stock/Port Management ที่ระบบอื่นในตลาดไม่ครบ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3291840"/>
            <a:ext cx="8046720" cy="950976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291840"/>
            <a:ext cx="91440" cy="9509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529584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29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3856" y="33832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Prototype พร้อม + Go-Live ใน 12 เดือน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3856" y="371246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B8D8"/>
                </a:solidFill>
              </a:rPr>
              <a:t>มี working prototype ให้ดูวันนี้ พร้อม roadmap 4 phases ที่ชัดเจน และ track record การ deliver ตรงเวลาในโปรเจค Leasing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4425696"/>
            <a:ext cx="80467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42569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📩  พร้อม Demo Prototype วันนี้  |  ติดต่อเพื่อนัด Session  |  ขอบคุณสำหรับโอกาส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 B2B Platform — Proposal</dc:title>
  <dc:subject>PptxGenJS Presentation</dc:subject>
  <dc:creator>PptxGenJS</dc:creator>
  <cp:lastModifiedBy>PptxGenJS</cp:lastModifiedBy>
  <cp:revision>1</cp:revision>
  <dcterms:created xsi:type="dcterms:W3CDTF">2026-03-14T07:26:32Z</dcterms:created>
  <dcterms:modified xsi:type="dcterms:W3CDTF">2026-03-14T07:26:32Z</dcterms:modified>
</cp:coreProperties>
</file>