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18872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914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5EEAD4"/>
                </a:solidFill>
              </a:rPr>
              <a:t>OPERATING LEASE B2B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3258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User Journey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502920" y="278892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ขั้นตอนการทำงานระบบ OL B2B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ตั้งแต่ Lead จนถึง End-of-Lease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6 User Journeys  •  Fleet Management  •  IFRS 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ภาพรวม User Journey ทั้งหมด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43891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Shape 4"/>
          <p:cNvSpPr/>
          <p:nvPr/>
        </p:nvSpPr>
        <p:spPr>
          <a:xfrm>
            <a:off x="429768" y="996696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996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1448" y="969264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768" y="138988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Sales Journey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29768" y="178308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Lead → Quotation → MLA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9144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914400"/>
            <a:ext cx="265176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0"/>
          <p:cNvSpPr/>
          <p:nvPr/>
        </p:nvSpPr>
        <p:spPr>
          <a:xfrm>
            <a:off x="3310128" y="996696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3310128" y="996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2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969264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10128" y="138988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Delivery Journey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310128" y="178308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Asset → SN → Activate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80760" y="91440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914400"/>
            <a:ext cx="2651760" cy="43891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Shape 16"/>
          <p:cNvSpPr/>
          <p:nvPr/>
        </p:nvSpPr>
        <p:spPr>
          <a:xfrm>
            <a:off x="6190488" y="996696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6190488" y="996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3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969264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190488" y="138988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Billing Journey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190488" y="178308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Invoice → Payment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320040" y="28346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20040" y="2834640"/>
            <a:ext cx="2651760" cy="43891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7" name="Shape 22"/>
          <p:cNvSpPr/>
          <p:nvPr/>
        </p:nvSpPr>
        <p:spPr>
          <a:xfrm>
            <a:off x="429768" y="2916936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8" name="Text 23"/>
          <p:cNvSpPr/>
          <p:nvPr/>
        </p:nvSpPr>
        <p:spPr>
          <a:xfrm>
            <a:off x="429768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4</a:t>
            </a:r>
            <a:endParaRPr lang="en-US" sz="11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448" y="2889504"/>
            <a:ext cx="329184" cy="32918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29768" y="331012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Maintenance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429768" y="370332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PM Plan → Work Order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200400" y="28346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200400" y="2834640"/>
            <a:ext cx="2651760" cy="43891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Shape 28"/>
          <p:cNvSpPr/>
          <p:nvPr/>
        </p:nvSpPr>
        <p:spPr>
          <a:xfrm>
            <a:off x="3310128" y="2916936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5" name="Text 29"/>
          <p:cNvSpPr/>
          <p:nvPr/>
        </p:nvSpPr>
        <p:spPr>
          <a:xfrm>
            <a:off x="3310128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5</a:t>
            </a:r>
            <a:endParaRPr lang="en-US" sz="11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2889504"/>
            <a:ext cx="329184" cy="32918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310128" y="331012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End-of-Lease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3310128" y="370332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Return / Renew / Purchase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6080760" y="28346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080760" y="2834640"/>
            <a:ext cx="265176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1" name="Shape 34"/>
          <p:cNvSpPr/>
          <p:nvPr/>
        </p:nvSpPr>
        <p:spPr>
          <a:xfrm>
            <a:off x="6190488" y="2916936"/>
            <a:ext cx="274320" cy="2743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2" name="Text 35"/>
          <p:cNvSpPr/>
          <p:nvPr/>
        </p:nvSpPr>
        <p:spPr>
          <a:xfrm>
            <a:off x="6190488" y="2916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6</a:t>
            </a:r>
            <a:endParaRPr lang="en-US" sz="11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8" y="2889504"/>
            <a:ext cx="329184" cy="32918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190488" y="3310128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Asset Substitution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6190488" y="3703320"/>
            <a:ext cx="2450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เสียหาย → สลับ SN ไม่ทำสัญญาใหม่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Journey 1 — Sales Journey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49808" y="4754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</a:rPr>
              <a:t>Lead → Quotation → Approval → MLA → Equipment Schedule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0" y="777240"/>
            <a:ext cx="1234440" cy="1078992"/>
          </a:xfrm>
          <a:prstGeom prst="rect">
            <a:avLst/>
          </a:prstGeom>
          <a:solidFill>
            <a:srgbClr val="1B3A6B">
              <a:alpha val="15000"/>
            </a:srgbClr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777240"/>
            <a:ext cx="1234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Sales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1856232"/>
            <a:ext cx="1234440" cy="1078992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1856232"/>
            <a:ext cx="1234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ฝ่ายสินเชื่อ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0" y="2935224"/>
            <a:ext cx="1234440" cy="1078992"/>
          </a:xfrm>
          <a:prstGeom prst="rect">
            <a:avLst/>
          </a:prstGeom>
          <a:solidFill>
            <a:srgbClr val="475569">
              <a:alpha val="15000"/>
            </a:srgbClr>
          </a:solidFill>
          <a:ln w="6350">
            <a:solidFill>
              <a:srgbClr val="47556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2935224"/>
            <a:ext cx="1234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</a:rPr>
              <a:t>ระบบ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014216"/>
            <a:ext cx="1234440" cy="1078992"/>
          </a:xfrm>
          <a:prstGeom prst="rect">
            <a:avLst/>
          </a:prstGeom>
          <a:solidFill>
            <a:srgbClr val="EA580C">
              <a:alpha val="15000"/>
            </a:srgbClr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0" y="4014216"/>
            <a:ext cx="1234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ลูกค้า (B2B)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371600" y="950976"/>
            <a:ext cx="1389888" cy="749808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444752" y="1014984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1444752" y="1014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1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481328" y="1243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Lead / Prospect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481328" y="1499616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กรอกข้อมูลลูกค้า B2B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807208" y="950976"/>
            <a:ext cx="1389888" cy="749808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880360" y="1014984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2880360" y="1014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2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916936" y="1243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Qualify &amp; KYC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916936" y="1499616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เครดิต / เอกสาร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242816" y="950976"/>
            <a:ext cx="1389888" cy="749808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15968" y="1014984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4315968" y="101498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</a:rPr>
              <a:t>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352544" y="1243584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Quotation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352544" y="1499616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SINGLE / BATCH Mode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242816" y="1920240"/>
            <a:ext cx="1389888" cy="749808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315968" y="1984248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4315968" y="19842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4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352544" y="2212848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Credit Approve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4352544" y="246888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ตรวจ &amp; อนุมัติ Fleet Facility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242816" y="2889504"/>
            <a:ext cx="1389888" cy="749808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315968" y="2953512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4315968" y="2953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5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352544" y="318211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สร้าง MLA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4352544" y="343814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Master Lease Agreement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678424" y="2889504"/>
            <a:ext cx="1389888" cy="749808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751576" y="2953512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5751576" y="2953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6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788152" y="3182112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Equipment Schedule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5788152" y="3438144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Auto-gen จาก BATCH Quotation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678424" y="3858768"/>
            <a:ext cx="1389888" cy="749808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5751576" y="3922776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5751576" y="3922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7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5788152" y="415137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ลูกค้าเซ็นสัญญา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5788152" y="440740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MLA + Schedule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7114032" y="3858768"/>
            <a:ext cx="1389888" cy="749808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50800" dist="127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7187184" y="3922776"/>
            <a:ext cx="237744" cy="237744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7187184" y="3922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8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223760" y="4151376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Activated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7223760" y="440740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พร้อม Deliver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2557"/>
          </a:solidFill>
          <a:ln/>
        </p:spPr>
      </p:sp>
      <p:sp>
        <p:nvSpPr>
          <p:cNvPr id="55" name="Text 52"/>
          <p:cNvSpPr/>
          <p:nvPr/>
        </p:nvSpPr>
        <p:spPr>
          <a:xfrm>
            <a:off x="274320" y="4855464"/>
            <a:ext cx="8595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EAD4"/>
                </a:solidFill>
              </a:rPr>
              <a:t>📌  BATCH Mode: Quotation 10 คัน → สร้าง Equipment Schedule 10 แถวโดยอัตโนมัติ  |  Fleet Facility ≠ Revolving Loan — วงเงินอนุมัติล่วงหน้าสำหรับ Fleet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Journey 2 — Asset Delivery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49808" y="4754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RESERVED → Assign Serial Number → ส่งมอบ → ACTIVE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20040" y="1005840"/>
            <a:ext cx="1463040" cy="1097280"/>
          </a:xfrm>
          <a:prstGeom prst="rect">
            <a:avLst/>
          </a:prstGeom>
          <a:solidFill>
            <a:srgbClr val="475569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11480" y="1115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AVAILABLE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1480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Asset พร้อมใช้งาน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ในคลัง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810512" y="1554480"/>
            <a:ext cx="1737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874520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984248" y="1005840"/>
            <a:ext cx="1463040" cy="109728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075688" y="1115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RESERVED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075688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จอง Asset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ให้ลูกค้า B2B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474720" y="1554480"/>
            <a:ext cx="1737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38728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3648456" y="1005840"/>
            <a:ext cx="1463040" cy="1097280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739896" y="1115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PREPARING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739896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เตรียม/ติดตั้ง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อุปกรณ์เพิ่ม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138928" y="1554480"/>
            <a:ext cx="1737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02936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▶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312664" y="1005840"/>
            <a:ext cx="1463040" cy="10972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404104" y="1115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DELIVERED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404104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ส่งมอบ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พร้อม PDI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803136" y="1554480"/>
            <a:ext cx="17373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867144" y="14173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976872" y="1005840"/>
            <a:ext cx="1463040" cy="109728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7068312" y="1115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ACTIVE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068312" y="14630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สัญญาเดิน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StartDate =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20040" y="23774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20040" y="2377440"/>
            <a:ext cx="64008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8"/>
          <p:cNvSpPr/>
          <p:nvPr/>
        </p:nvSpPr>
        <p:spPr>
          <a:xfrm>
            <a:off x="448056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Assign Serial Number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48056" y="276148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กรอก Chassis No. / Engine No.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แนบ Registration Book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532888" y="23774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2532888" y="2377440"/>
            <a:ext cx="64008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2"/>
          <p:cNvSpPr/>
          <p:nvPr/>
        </p:nvSpPr>
        <p:spPr>
          <a:xfrm>
            <a:off x="2660904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Delivery Checklist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2660904" y="276148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PDI Check / Photo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ลูกค้าเซ็นรับมอบ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745736" y="23774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745736" y="2377440"/>
            <a:ext cx="64008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6"/>
          <p:cNvSpPr/>
          <p:nvPr/>
        </p:nvSpPr>
        <p:spPr>
          <a:xfrm>
            <a:off x="4873752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Activate Contract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873752" y="276148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StartDate = วันส่งมอบ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Billing Cycle เริ่มนับ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6958584" y="2377440"/>
            <a:ext cx="20116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958584" y="2377440"/>
            <a:ext cx="64008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Fleet (10-100 คัน)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7086600" y="2761488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ส่งมอบทีละคัน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Activate ได้แบบ Partial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46" name="Text 43"/>
          <p:cNvSpPr/>
          <p:nvPr/>
        </p:nvSpPr>
        <p:spPr>
          <a:xfrm>
            <a:off x="274320" y="4855464"/>
            <a:ext cx="8595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📌  Asset Lifecycle: AVAILABLE → RESERVED → ACTIVE → MAINTENANCE → RETURNED → DISPOSED  |  Partial Activation รองรับ Fleet ส่งมอบทีละคัน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Journey 3 — Billing Journey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49808" y="4754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Auto Invoice Generation → Send → Collect → Reconcile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1024128"/>
            <a:ext cx="658368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1024128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D-5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3504" y="1527048"/>
            <a:ext cx="0" cy="30175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1078992" y="960120"/>
            <a:ext cx="3108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70432" y="10058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Generate Invoice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70432" y="126187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ระบบสร้างใบแจ้งหนี้อัตโนมัติ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Financial + Maintenance Rental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74320" y="1828800"/>
            <a:ext cx="658368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" y="182880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D-3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" y="2331720"/>
            <a:ext cx="0" cy="30175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1078992" y="1764792"/>
            <a:ext cx="3108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170432" y="18105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ส่ง Invoice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170432" y="20665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Email / Portal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Consolidated Invoice (Fleet)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74320" y="2633472"/>
            <a:ext cx="658368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6"/>
          <p:cNvSpPr/>
          <p:nvPr/>
        </p:nvSpPr>
        <p:spPr>
          <a:xfrm>
            <a:off x="274320" y="2633472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D-0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3504" y="3136392"/>
            <a:ext cx="0" cy="30175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1" name="Shape 18"/>
          <p:cNvSpPr/>
          <p:nvPr/>
        </p:nvSpPr>
        <p:spPr>
          <a:xfrm>
            <a:off x="1078992" y="2569464"/>
            <a:ext cx="3108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170432" y="26151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Due Date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70432" y="28712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กำหนดชำระ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(ต้นเดือน / ปลายเดือน)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274320" y="3438144"/>
            <a:ext cx="658368" cy="50292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3438144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D+1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3504" y="3941064"/>
            <a:ext cx="0" cy="30175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7" name="Shape 24"/>
          <p:cNvSpPr/>
          <p:nvPr/>
        </p:nvSpPr>
        <p:spPr>
          <a:xfrm>
            <a:off x="1078992" y="3374136"/>
            <a:ext cx="3108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170432" y="34198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รับชำระ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170432" y="36758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Bank Transfer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Batch Payment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74320" y="4242816"/>
            <a:ext cx="658368" cy="502920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31" name="Text 28"/>
          <p:cNvSpPr/>
          <p:nvPr/>
        </p:nvSpPr>
        <p:spPr>
          <a:xfrm>
            <a:off x="274320" y="4242816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D+2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078992" y="4178808"/>
            <a:ext cx="310896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1170432" y="422452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Reconcile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1170432" y="44805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Match Invoice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Update Lease Schedule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480560" y="914400"/>
            <a:ext cx="43891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480560" y="914400"/>
            <a:ext cx="438912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7" name="Text 34"/>
          <p:cNvSpPr/>
          <p:nvPr/>
        </p:nvSpPr>
        <p:spPr>
          <a:xfrm>
            <a:off x="4617720" y="9144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โครงสร้าง Invoice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4480560" y="1444752"/>
            <a:ext cx="4389120" cy="4572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6"/>
          <p:cNvSpPr/>
          <p:nvPr/>
        </p:nvSpPr>
        <p:spPr>
          <a:xfrm>
            <a:off x="4617720" y="144475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รายการ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675120" y="14447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ต่อคัน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7726680" y="144475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รวม Fleet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480560" y="1920240"/>
            <a:ext cx="43891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3" name="Text 40"/>
          <p:cNvSpPr/>
          <p:nvPr/>
        </p:nvSpPr>
        <p:spPr>
          <a:xfrm>
            <a:off x="461772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Financial Rental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67512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15,000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7726680" y="19202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150,000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480560" y="2395728"/>
            <a:ext cx="4389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4"/>
          <p:cNvSpPr/>
          <p:nvPr/>
        </p:nvSpPr>
        <p:spPr>
          <a:xfrm>
            <a:off x="4617720" y="23957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Maintenance Rental (PD14)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6675120" y="2395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3,500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7726680" y="23957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35,000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480560" y="2871216"/>
            <a:ext cx="43891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Text 48"/>
          <p:cNvSpPr/>
          <p:nvPr/>
        </p:nvSpPr>
        <p:spPr>
          <a:xfrm>
            <a:off x="4617720" y="28712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Insurance Premium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6675120" y="28712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1,200</a:t>
            </a:r>
            <a:endParaRPr lang="en-US" sz="950" dirty="0"/>
          </a:p>
        </p:txBody>
      </p:sp>
      <p:sp>
        <p:nvSpPr>
          <p:cNvPr id="53" name="Text 50"/>
          <p:cNvSpPr/>
          <p:nvPr/>
        </p:nvSpPr>
        <p:spPr>
          <a:xfrm>
            <a:off x="7726680" y="287121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12,000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480560" y="3346704"/>
            <a:ext cx="4389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2"/>
          <p:cNvSpPr/>
          <p:nvPr/>
        </p:nvSpPr>
        <p:spPr>
          <a:xfrm>
            <a:off x="4617720" y="334670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Subtotal (ก่อน VAT)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6675120" y="33467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19,700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7726680" y="334670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197,000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4480560" y="3822192"/>
            <a:ext cx="4389120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Text 56"/>
          <p:cNvSpPr/>
          <p:nvPr/>
        </p:nvSpPr>
        <p:spPr>
          <a:xfrm>
            <a:off x="4617720" y="38221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VAT 7%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6675120" y="38221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1,379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7726680" y="3822192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13,790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4480560" y="4297680"/>
            <a:ext cx="43891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0"/>
          <p:cNvSpPr/>
          <p:nvPr/>
        </p:nvSpPr>
        <p:spPr>
          <a:xfrm>
            <a:off x="4617720" y="4297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รวมทั้งสิ้น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6675120" y="4297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21,079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7726680" y="42976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210,790</a:t>
            </a:r>
            <a:endParaRPr lang="en-US" sz="950" dirty="0"/>
          </a:p>
        </p:txBody>
      </p:sp>
      <p:sp>
        <p:nvSpPr>
          <p:cNvPr id="66" name="Shape 6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6A34A">
              <a:alpha val="90000"/>
            </a:srgbClr>
          </a:solidFill>
          <a:ln/>
        </p:spPr>
      </p:sp>
      <p:sp>
        <p:nvSpPr>
          <p:cNvPr id="67" name="Text 64"/>
          <p:cNvSpPr/>
          <p:nvPr/>
        </p:nvSpPr>
        <p:spPr>
          <a:xfrm>
            <a:off x="274320" y="4855464"/>
            <a:ext cx="8595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📌  Consolidated Invoice: รวมใบแจ้งหนี้ Fleet ทั้งหมดใน 1 ใบ  |  Pro-rata: คิดตามวันจริงในเดือนแรก  |  Financial Rental ≠ Maintenance Rental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580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Journey 4 — Maintenance Journey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49808" y="4754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PM Plan → Work Order → Complete → Record History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3840480" cy="36576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7" name="Text 4"/>
          <p:cNvSpPr/>
          <p:nvPr/>
        </p:nvSpPr>
        <p:spPr>
          <a:xfrm>
            <a:off x="365760" y="914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แผน PM (Preventive Maintenance)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74320" y="1325880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384048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ระยะทาง / เดือน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92024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ทุก 5,000 กม. หรือ 3 เดือน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74320" y="1737360"/>
            <a:ext cx="384048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384048" y="17373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ประเภท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920240" y="173736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PM1 / PM2 / PM3 / Major Service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2148840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" y="2148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แจ้งเตือน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920240" y="2148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ล่วงหน้า 30 วัน / 500 กม.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274320" y="2560320"/>
            <a:ext cx="3840480" cy="38404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Text 15"/>
          <p:cNvSpPr/>
          <p:nvPr/>
        </p:nvSpPr>
        <p:spPr>
          <a:xfrm>
            <a:off x="384048" y="2560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Maintenance Pack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920240" y="25603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PD13 (Operational) / PD14 (Full)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2971800"/>
            <a:ext cx="3840480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384048" y="29718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75569"/>
                </a:solidFill>
              </a:rPr>
              <a:t>ผู้รับผิดชอบ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920240" y="29718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Leasing Co. จัดหาอู่ใน Network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572000" y="914400"/>
            <a:ext cx="4297680" cy="36576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4" name="Text 21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 Order Flow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0" y="1444752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0" y="1444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764024" y="1828800"/>
            <a:ext cx="0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8" name="Shape 25"/>
          <p:cNvSpPr/>
          <p:nvPr/>
        </p:nvSpPr>
        <p:spPr>
          <a:xfrm>
            <a:off x="5074920" y="1399032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166360" y="14264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เปิด Work Order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166360" y="16733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PM Due / ลูกค้าแจ้งซ่อม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4572000" y="2157984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0" y="2157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764024" y="2542032"/>
            <a:ext cx="0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4" name="Shape 31"/>
          <p:cNvSpPr/>
          <p:nvPr/>
        </p:nvSpPr>
        <p:spPr>
          <a:xfrm>
            <a:off x="5074920" y="2112264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5166360" y="21396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มอบหมายช่าง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5166360" y="2386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เลือกอู่ / Technician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0" y="2871216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0" y="2871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764024" y="3255264"/>
            <a:ext cx="0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0" name="Shape 37"/>
          <p:cNvSpPr/>
          <p:nvPr/>
        </p:nvSpPr>
        <p:spPr>
          <a:xfrm>
            <a:off x="5074920" y="2825496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5166360" y="28529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ดำเนินการซ่อม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5166360" y="30998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In-Progress (Asset: MAINTENANCE)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0" y="3584448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4764024" y="3968496"/>
            <a:ext cx="0" cy="320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46" name="Shape 43"/>
          <p:cNvSpPr/>
          <p:nvPr/>
        </p:nvSpPr>
        <p:spPr>
          <a:xfrm>
            <a:off x="5074920" y="3538728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5166360" y="35661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บันทึกผล &amp; ค่าใช้จ่าย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5166360" y="3813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Parts / Labor / Invoice อู่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4572000" y="4297680"/>
            <a:ext cx="384048" cy="38404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50" name="Text 47"/>
          <p:cNvSpPr/>
          <p:nvPr/>
        </p:nvSpPr>
        <p:spPr>
          <a:xfrm>
            <a:off x="4572000" y="4297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5074920" y="4251960"/>
            <a:ext cx="37490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10000"/>
              </a:srgbClr>
            </a:outerShdw>
          </a:effectLst>
        </p:spPr>
      </p:sp>
      <p:sp>
        <p:nvSpPr>
          <p:cNvPr id="52" name="Text 49"/>
          <p:cNvSpPr/>
          <p:nvPr/>
        </p:nvSpPr>
        <p:spPr>
          <a:xfrm>
            <a:off x="5166360" y="4279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ปิด Work Order</a:t>
            </a:r>
            <a:endParaRPr lang="en-US" sz="1050" dirty="0"/>
          </a:p>
        </p:txBody>
      </p:sp>
      <p:sp>
        <p:nvSpPr>
          <p:cNvPr id="53" name="Text 50"/>
          <p:cNvSpPr/>
          <p:nvPr/>
        </p:nvSpPr>
        <p:spPr>
          <a:xfrm>
            <a:off x="5166360" y="4526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Asset: ACTIVE, ประวัติสะสม</a:t>
            </a:r>
            <a:endParaRPr lang="en-US" sz="850" dirty="0"/>
          </a:p>
        </p:txBody>
      </p:sp>
      <p:sp>
        <p:nvSpPr>
          <p:cNvPr id="54" name="Shape 5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EA580C">
              <a:alpha val="90000"/>
            </a:srgbClr>
          </a:solidFill>
          <a:ln/>
        </p:spPr>
      </p:sp>
      <p:sp>
        <p:nvSpPr>
          <p:cNvPr id="55" name="Text 52"/>
          <p:cNvSpPr/>
          <p:nvPr/>
        </p:nvSpPr>
        <p:spPr>
          <a:xfrm>
            <a:off x="274320" y="4855464"/>
            <a:ext cx="8595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📌  Maintenance Rental รวมใน Invoice รายเดือน  |  Work Order ผูกกับ Asset SN  |  Cost Tracking แยกได้ต่อคัน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Journey 5 — End-of-Lease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49808" y="4754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แจ้งเตือน 90 วัน → ลูกค้าตัดสินใจ → Return / Renew / Purchase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868680" y="960120"/>
            <a:ext cx="86868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9601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90 วัน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280160" y="1216152"/>
            <a:ext cx="1280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155448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1554480"/>
            <a:ext cx="16459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658368" y="1627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แจ้งเตือนล่วงหน้า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8368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ระบบส่ง Email / Notification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063240" y="960120"/>
            <a:ext cx="868680" cy="5029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1"/>
          <p:cNvSpPr/>
          <p:nvPr/>
        </p:nvSpPr>
        <p:spPr>
          <a:xfrm>
            <a:off x="3063240" y="9601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60 วัน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74720" y="1216152"/>
            <a:ext cx="1280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88920" y="155448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788920" y="1554480"/>
            <a:ext cx="1645920" cy="640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8" name="Text 15"/>
          <p:cNvSpPr/>
          <p:nvPr/>
        </p:nvSpPr>
        <p:spPr>
          <a:xfrm>
            <a:off x="2852928" y="1627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ลูกค้าแจ้งความประสงค์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852928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Return / Renew / Purchase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257800" y="960120"/>
            <a:ext cx="86868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8"/>
          <p:cNvSpPr/>
          <p:nvPr/>
        </p:nvSpPr>
        <p:spPr>
          <a:xfrm>
            <a:off x="5257800" y="9601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30 วัน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669280" y="1216152"/>
            <a:ext cx="1280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83480" y="155448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983480" y="1554480"/>
            <a:ext cx="1645920" cy="640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5" name="Text 22"/>
          <p:cNvSpPr/>
          <p:nvPr/>
        </p:nvSpPr>
        <p:spPr>
          <a:xfrm>
            <a:off x="5047488" y="1627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เตรียมเอกสาร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047488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ET Quote / Renewal Rate / Return Form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452360" y="960120"/>
            <a:ext cx="86868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8" name="Text 25"/>
          <p:cNvSpPr/>
          <p:nvPr/>
        </p:nvSpPr>
        <p:spPr>
          <a:xfrm>
            <a:off x="7452360" y="9601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D-0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863840" y="1216152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78040" y="1554480"/>
            <a:ext cx="16459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7178040" y="1554480"/>
            <a:ext cx="1645920" cy="640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2" name="Text 29"/>
          <p:cNvSpPr/>
          <p:nvPr/>
        </p:nvSpPr>
        <p:spPr>
          <a:xfrm>
            <a:off x="7242048" y="1627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วันสิ้นสัญญา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242048" y="192024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ดำเนินการตามที่เลือก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94360" y="2651760"/>
            <a:ext cx="24688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594360" y="2651760"/>
            <a:ext cx="2468880" cy="5029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3"/>
          <p:cNvSpPr/>
          <p:nvPr/>
        </p:nvSpPr>
        <p:spPr>
          <a:xfrm>
            <a:off x="704088" y="2651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RETURN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04088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คืน Asset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731520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ตรวจสภาพ / ส่งคืน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คำนวณค่าเสียหาย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Asset → RETURNED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ขาย / Remarket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3383280" y="2651760"/>
            <a:ext cx="24688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383280" y="2651760"/>
            <a:ext cx="246888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8"/>
          <p:cNvSpPr/>
          <p:nvPr/>
        </p:nvSpPr>
        <p:spPr>
          <a:xfrm>
            <a:off x="3493008" y="2651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RENEW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3493008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ต่อสัญญา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3520440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กำหนด Rate ใหม่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Equipment Schedule ใหม่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ไม่ต้องทำ MLA ใหม่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Residual Value รีเซ็ต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6172200" y="2651760"/>
            <a:ext cx="24688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172200" y="2651760"/>
            <a:ext cx="246888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6" name="Text 43"/>
          <p:cNvSpPr/>
          <p:nvPr/>
        </p:nvSpPr>
        <p:spPr>
          <a:xfrm>
            <a:off x="6281928" y="2651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PURCHASE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6281928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</a:rPr>
              <a:t>ซื้อ Asset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309360" y="320040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ราคา = Residual Value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โอนกรรมสิทธิ์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ออกใบขาย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Asset → DISPOSED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DC2626">
              <a:alpha val="90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274320" y="4855464"/>
            <a:ext cx="8595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📌  Selective Renewal: Fleet 50 คัน ต่อบางคัน-คืนบางคัน ไม่ต้องยกเลิกสัญญาทั้งหมด  |  RV (Residual Value) กำหนดล่วงหน้าตั้งแต่วันทำสัญญา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Journey 6 — Asset Substitution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49808" y="4754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Asset เสียหาย → สลับ Serial Number → สัญญาไม่เปลี่ยน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💡  สัญญาไม่เปลี่ยน — เฉพาะ Serial Number (SN) ที่เปลี่ยน  |  ลูกค้าไม่ต้องเซ็นสัญญาใหม่  |  ค่าเช่าและวันสิ้นสุดสัญญาคงเดิม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040" y="1673352"/>
            <a:ext cx="1463040" cy="137160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9768" y="1719072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429768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21031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Asset เสียหาย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/ สูญหาย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269748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รายงาน / ถ่ายรูป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856232" y="22402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075688" y="1673352"/>
            <a:ext cx="1463040" cy="1371600"/>
          </a:xfrm>
          <a:prstGeom prst="rect">
            <a:avLst/>
          </a:prstGeom>
          <a:solidFill>
            <a:srgbClr val="EA580C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185416" y="1719072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185416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167128" y="21031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เปิด Substitution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Request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167128" y="269748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ระบุ Asset เดิม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และเหตุผล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611880" y="22402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3831336" y="1673352"/>
            <a:ext cx="1463040" cy="137160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941064" y="1719072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3941064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922776" y="21031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เลือก Asset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ทดแทน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922776" y="269748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จากคลัง AVAILABLE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(สเปคใกล้เคียง)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367528" y="22402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586984" y="1673352"/>
            <a:ext cx="1463040" cy="137160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696712" y="1719072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696712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678424" y="21031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อัปเดต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Equipment Schedule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678424" y="269748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เปลี่ยน SN เดิม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เป็น SN ใหม่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123176" y="22402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7342632" y="1673352"/>
            <a:ext cx="1463040" cy="13716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452360" y="1719072"/>
            <a:ext cx="347472" cy="347472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745236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5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434072" y="2103120"/>
            <a:ext cx="1298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ส่งมอบ Asset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ทดแทน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7434072" y="2697480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PDI / ลูกค้ารับ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Billing ต่อเนื่อง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74320" y="3273552"/>
            <a:ext cx="8595360" cy="274320"/>
          </a:xfrm>
          <a:prstGeom prst="rect">
            <a:avLst/>
          </a:prstGeom>
          <a:solidFill>
            <a:srgbClr val="0F2557"/>
          </a:solidFill>
          <a:ln/>
        </p:spPr>
      </p:sp>
      <p:sp>
        <p:nvSpPr>
          <p:cNvPr id="38" name="Text 35"/>
          <p:cNvSpPr/>
          <p:nvPr/>
        </p:nvSpPr>
        <p:spPr>
          <a:xfrm>
            <a:off x="365760" y="3273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เปรียบเทียบ: Asset เดิม vs Asset ทดแทน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274320" y="3547872"/>
            <a:ext cx="2148840" cy="256032"/>
          </a:xfrm>
          <a:prstGeom prst="rect">
            <a:avLst/>
          </a:prstGeom>
          <a:solidFill>
            <a:srgbClr val="47556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47472" y="35478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รายการ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2423160" y="3547872"/>
            <a:ext cx="2148840" cy="256032"/>
          </a:xfrm>
          <a:prstGeom prst="rect">
            <a:avLst/>
          </a:prstGeom>
          <a:solidFill>
            <a:srgbClr val="47556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496312" y="35478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Asset เดิม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0" y="3547872"/>
            <a:ext cx="2148840" cy="256032"/>
          </a:xfrm>
          <a:prstGeom prst="rect">
            <a:avLst/>
          </a:prstGeom>
          <a:solidFill>
            <a:srgbClr val="47556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645152" y="35478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Asset ทดแทน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720840" y="3547872"/>
            <a:ext cx="2148840" cy="256032"/>
          </a:xfrm>
          <a:prstGeom prst="rect">
            <a:avLst/>
          </a:prstGeom>
          <a:solidFill>
            <a:srgbClr val="47556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793992" y="354787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เปลี่ยน?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274320" y="3803904"/>
            <a:ext cx="214884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347472" y="38039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สัญญา (MLA)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2423160" y="3803904"/>
            <a:ext cx="214884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496312" y="38039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TH-2024-001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4572000" y="3803904"/>
            <a:ext cx="214884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645152" y="38039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TH-2024-001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6720840" y="3803904"/>
            <a:ext cx="214884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793992" y="38039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❌ ไม่เปลี่ยน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274320" y="4059936"/>
            <a:ext cx="21488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47472" y="40599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Serial Number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2423160" y="4059936"/>
            <a:ext cx="21488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496312" y="40599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SN-AAA-001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4572000" y="4059936"/>
            <a:ext cx="21488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645152" y="40599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SN-BBB-999</a:t>
            </a:r>
            <a:endParaRPr lang="en-US" sz="850" dirty="0"/>
          </a:p>
        </p:txBody>
      </p:sp>
      <p:sp>
        <p:nvSpPr>
          <p:cNvPr id="61" name="Shape 58"/>
          <p:cNvSpPr/>
          <p:nvPr/>
        </p:nvSpPr>
        <p:spPr>
          <a:xfrm>
            <a:off x="6720840" y="4059936"/>
            <a:ext cx="21488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793992" y="40599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✅ เปลี่ยน</a:t>
            </a:r>
            <a:endParaRPr lang="en-US" sz="850" dirty="0"/>
          </a:p>
        </p:txBody>
      </p:sp>
      <p:sp>
        <p:nvSpPr>
          <p:cNvPr id="63" name="Shape 60"/>
          <p:cNvSpPr/>
          <p:nvPr/>
        </p:nvSpPr>
        <p:spPr>
          <a:xfrm>
            <a:off x="274320" y="4315968"/>
            <a:ext cx="214884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347472" y="43159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ค่าเช่าต่อเดือน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2423160" y="4315968"/>
            <a:ext cx="214884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496312" y="43159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21,079 บาท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>
            <a:off x="4572000" y="4315968"/>
            <a:ext cx="214884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645152" y="43159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21,079 บาท</a:t>
            </a: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6720840" y="4315968"/>
            <a:ext cx="214884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6793992" y="431596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❌ ไม่เปลี่ยน</a:t>
            </a:r>
            <a:endParaRPr lang="en-US" sz="850" dirty="0"/>
          </a:p>
        </p:txBody>
      </p:sp>
      <p:sp>
        <p:nvSpPr>
          <p:cNvPr id="71" name="Shape 68"/>
          <p:cNvSpPr/>
          <p:nvPr/>
        </p:nvSpPr>
        <p:spPr>
          <a:xfrm>
            <a:off x="274320" y="4572000"/>
            <a:ext cx="21488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347472" y="4572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วันสิ้นสุดสัญญา</a:t>
            </a:r>
            <a:endParaRPr lang="en-US" sz="850" dirty="0"/>
          </a:p>
        </p:txBody>
      </p:sp>
      <p:sp>
        <p:nvSpPr>
          <p:cNvPr id="73" name="Shape 70"/>
          <p:cNvSpPr/>
          <p:nvPr/>
        </p:nvSpPr>
        <p:spPr>
          <a:xfrm>
            <a:off x="2423160" y="4572000"/>
            <a:ext cx="21488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2496312" y="4572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31 ธ.ค. 2569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4572000" y="4572000"/>
            <a:ext cx="21488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645152" y="4572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31 ธ.ค. 2569</a:t>
            </a:r>
            <a:endParaRPr lang="en-US" sz="850" dirty="0"/>
          </a:p>
        </p:txBody>
      </p:sp>
      <p:sp>
        <p:nvSpPr>
          <p:cNvPr id="77" name="Shape 74"/>
          <p:cNvSpPr/>
          <p:nvPr/>
        </p:nvSpPr>
        <p:spPr>
          <a:xfrm>
            <a:off x="6720840" y="4572000"/>
            <a:ext cx="214884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6793992" y="45720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❌ ไม่เปลี่ยน</a:t>
            </a:r>
            <a:endParaRPr lang="en-US" sz="850" dirty="0"/>
          </a:p>
        </p:txBody>
      </p:sp>
      <p:sp>
        <p:nvSpPr>
          <p:cNvPr id="79" name="Shape 7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80" name="Text 77"/>
          <p:cNvSpPr/>
          <p:nvPr/>
        </p:nvSpPr>
        <p:spPr>
          <a:xfrm>
            <a:off x="274320" y="4855464"/>
            <a:ext cx="8595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📌  ไม่ต้องทำสัญญาใหม่  |  ค่าเช่าไม่เปลี่ยน  |  ประวัติการซ่อมสะสมตาม Asset (SN) ใหม่  |  บันทึกใน Substitution Log พร้อมเหตุผล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3A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6459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10 Modules ของระบบ Operating Lease B2B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182880" y="914400"/>
            <a:ext cx="1664208" cy="91440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182880" y="914400"/>
            <a:ext cx="16642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4"/>
          <p:cNvSpPr/>
          <p:nvPr/>
        </p:nvSpPr>
        <p:spPr>
          <a:xfrm>
            <a:off x="274320" y="1024128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56032" y="134416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56032" y="162763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Overview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892808" y="914400"/>
            <a:ext cx="1664208" cy="914400"/>
          </a:xfrm>
          <a:prstGeom prst="rect">
            <a:avLst/>
          </a:prstGeom>
          <a:solidFill>
            <a:srgbClr val="1B3A6B">
              <a:alpha val="9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1892808" y="914400"/>
            <a:ext cx="16642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0"/>
          <p:cNvSpPr/>
          <p:nvPr/>
        </p:nvSpPr>
        <p:spPr>
          <a:xfrm>
            <a:off x="1984248" y="1024128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1984248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965960" y="134416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Customer B2B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965960" y="162763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Journey 1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602736" y="914400"/>
            <a:ext cx="1664208" cy="914400"/>
          </a:xfrm>
          <a:prstGeom prst="rect">
            <a:avLst/>
          </a:prstGeom>
          <a:solidFill>
            <a:srgbClr val="1B3A6B">
              <a:alpha val="9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3602736" y="914400"/>
            <a:ext cx="16642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6"/>
          <p:cNvSpPr/>
          <p:nvPr/>
        </p:nvSpPr>
        <p:spPr>
          <a:xfrm>
            <a:off x="3694176" y="1024128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3694176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75888" y="134416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Quotation (PD14)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3675888" y="162763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Journey 1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5312664" y="914400"/>
            <a:ext cx="1664208" cy="914400"/>
          </a:xfrm>
          <a:prstGeom prst="rect">
            <a:avLst/>
          </a:prstGeom>
          <a:solidFill>
            <a:srgbClr val="0D9488">
              <a:alpha val="9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312664" y="914400"/>
            <a:ext cx="16642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2"/>
          <p:cNvSpPr/>
          <p:nvPr/>
        </p:nvSpPr>
        <p:spPr>
          <a:xfrm>
            <a:off x="5404104" y="1024128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404104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385816" y="134416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Asset Management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385816" y="162763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Journey 2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22592" y="914400"/>
            <a:ext cx="1664208" cy="914400"/>
          </a:xfrm>
          <a:prstGeom prst="rect">
            <a:avLst/>
          </a:prstGeom>
          <a:solidFill>
            <a:srgbClr val="16A34A">
              <a:alpha val="9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7022592" y="914400"/>
            <a:ext cx="16642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Shape 28"/>
          <p:cNvSpPr/>
          <p:nvPr/>
        </p:nvSpPr>
        <p:spPr>
          <a:xfrm>
            <a:off x="7114032" y="1024128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114032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5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095744" y="134416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Billing &amp; Lease Sched.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7095744" y="162763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Journey 3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182880" y="1965960"/>
            <a:ext cx="1664208" cy="914400"/>
          </a:xfrm>
          <a:prstGeom prst="rect">
            <a:avLst/>
          </a:prstGeom>
          <a:solidFill>
            <a:srgbClr val="1B3A6B">
              <a:alpha val="9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182880" y="1965960"/>
            <a:ext cx="16642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Shape 34"/>
          <p:cNvSpPr/>
          <p:nvPr/>
        </p:nvSpPr>
        <p:spPr>
          <a:xfrm>
            <a:off x="274320" y="2075688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8" name="Text 35"/>
          <p:cNvSpPr/>
          <p:nvPr/>
        </p:nvSpPr>
        <p:spPr>
          <a:xfrm>
            <a:off x="274320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6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256032" y="239572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Master Lease Agreement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256032" y="267919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Journey 1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1892808" y="1965960"/>
            <a:ext cx="1664208" cy="914400"/>
          </a:xfrm>
          <a:prstGeom prst="rect">
            <a:avLst/>
          </a:prstGeom>
          <a:solidFill>
            <a:srgbClr val="1B3A6B">
              <a:alpha val="90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1892808" y="1965960"/>
            <a:ext cx="16642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Shape 40"/>
          <p:cNvSpPr/>
          <p:nvPr/>
        </p:nvSpPr>
        <p:spPr>
          <a:xfrm>
            <a:off x="1984248" y="2075688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1984248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</a:rPr>
              <a:t>7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1965960" y="239572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Equipment Schedule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1965960" y="267919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Journey 1-2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3602736" y="1965960"/>
            <a:ext cx="1664208" cy="914400"/>
          </a:xfrm>
          <a:prstGeom prst="rect">
            <a:avLst/>
          </a:prstGeom>
          <a:solidFill>
            <a:srgbClr val="16A34A">
              <a:alpha val="90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3602736" y="1965960"/>
            <a:ext cx="16642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Shape 46"/>
          <p:cNvSpPr/>
          <p:nvPr/>
        </p:nvSpPr>
        <p:spPr>
          <a:xfrm>
            <a:off x="3694176" y="2075688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0" name="Text 47"/>
          <p:cNvSpPr/>
          <p:nvPr/>
        </p:nvSpPr>
        <p:spPr>
          <a:xfrm>
            <a:off x="3694176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8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3675888" y="239572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Invoice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3675888" y="267919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Journey 3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5312664" y="1965960"/>
            <a:ext cx="1664208" cy="914400"/>
          </a:xfrm>
          <a:prstGeom prst="rect">
            <a:avLst/>
          </a:prstGeom>
          <a:solidFill>
            <a:srgbClr val="EA580C">
              <a:alpha val="90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5312664" y="1965960"/>
            <a:ext cx="16642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5" name="Shape 52"/>
          <p:cNvSpPr/>
          <p:nvPr/>
        </p:nvSpPr>
        <p:spPr>
          <a:xfrm>
            <a:off x="5404104" y="2075688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5404104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580C"/>
                </a:solidFill>
              </a:rPr>
              <a:t>9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5385816" y="239572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Work Order &amp; PM Plan</a:t>
            </a:r>
            <a:endParaRPr lang="en-US" sz="950" dirty="0"/>
          </a:p>
        </p:txBody>
      </p:sp>
      <p:sp>
        <p:nvSpPr>
          <p:cNvPr id="58" name="Text 55"/>
          <p:cNvSpPr/>
          <p:nvPr/>
        </p:nvSpPr>
        <p:spPr>
          <a:xfrm>
            <a:off x="5385816" y="267919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Journey 4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7022592" y="1965960"/>
            <a:ext cx="1664208" cy="914400"/>
          </a:xfrm>
          <a:prstGeom prst="rect">
            <a:avLst/>
          </a:prstGeom>
          <a:solidFill>
            <a:srgbClr val="475569">
              <a:alpha val="90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7022592" y="1965960"/>
            <a:ext cx="1664208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1" name="Shape 58"/>
          <p:cNvSpPr/>
          <p:nvPr/>
        </p:nvSpPr>
        <p:spPr>
          <a:xfrm>
            <a:off x="7114032" y="2075688"/>
            <a:ext cx="292608" cy="292608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2" name="Text 59"/>
          <p:cNvSpPr/>
          <p:nvPr/>
        </p:nvSpPr>
        <p:spPr>
          <a:xfrm>
            <a:off x="7114032" y="2075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10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7095744" y="2395728"/>
            <a:ext cx="15361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Master Data / Settings</a:t>
            </a:r>
            <a:endParaRPr lang="en-US" sz="950" dirty="0"/>
          </a:p>
        </p:txBody>
      </p:sp>
      <p:sp>
        <p:nvSpPr>
          <p:cNvPr id="64" name="Text 61"/>
          <p:cNvSpPr/>
          <p:nvPr/>
        </p:nvSpPr>
        <p:spPr>
          <a:xfrm>
            <a:off x="7095744" y="2679192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EEAD4"/>
                </a:solidFill>
              </a:rPr>
              <a:t>All Journeys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66" name="Text 63"/>
          <p:cNvSpPr/>
          <p:nvPr/>
        </p:nvSpPr>
        <p:spPr>
          <a:xfrm>
            <a:off x="274320" y="4855464"/>
            <a:ext cx="8595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Tech Stack: Vue 3 + Vite + Vuetify 3 + TypeScript + Pinia + Vue Router  |  Template: Vuexy  |  Prototype แยกเป็น 10 PROMPT สำหรับ AI-assisted development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EEAD4"/>
                </a:solidFill>
              </a:rPr>
              <a:t>สรุป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Operating Lease B2B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System Design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2514600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4871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6 User Journeys ครอบคลุมตั้งแต่ Sales ถึง End-of-Lease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93522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9077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Fleet Management 10–100 คัน พร้อม Partial Activation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55848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33284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Asset Substitution ไม่ต้องทำสัญญาใหม่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76472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37490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IFRS 16 compliant: ROU Asset + Lease Liability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197096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416966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10 Modules สำหรับ Vue 3 Prototype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411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EEAD4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788920" cy="868680"/>
          </a:xfrm>
          <a:prstGeom prst="rect">
            <a:avLst/>
          </a:prstGeom>
          <a:solidFill>
            <a:srgbClr val="0F2557">
              <a:alpha val="8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96012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199632" y="978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99632" y="12344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สร้าง Vue Prototype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ตาม 10 PROMPT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1965960"/>
            <a:ext cx="2788920" cy="868680"/>
          </a:xfrm>
          <a:prstGeom prst="rect">
            <a:avLst/>
          </a:prstGeom>
          <a:solidFill>
            <a:srgbClr val="0F2557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080760" y="196596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199632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99632" y="2240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ทดสอบ Quotation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Calculator (PD14)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971800"/>
            <a:ext cx="2788920" cy="868680"/>
          </a:xfrm>
          <a:prstGeom prst="rect">
            <a:avLst/>
          </a:prstGeom>
          <a:solidFill>
            <a:srgbClr val="0F2557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080760" y="297180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199632" y="2990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99632" y="3246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ออกแบบ DB Schema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สำหรับ Fleet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3977640"/>
            <a:ext cx="2788920" cy="868680"/>
          </a:xfrm>
          <a:prstGeom prst="rect">
            <a:avLst/>
          </a:prstGeom>
          <a:solidFill>
            <a:srgbClr val="0F2557">
              <a:alpha val="8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080760" y="3977640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199632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99632" y="42519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UAT กับ Business User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Operating Lease B2B System  •  User Journey Design  •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Lease B2B — User Journey</dc:title>
  <dc:subject>PptxGenJS Presentation</dc:subject>
  <dc:creator>OL B2B System</dc:creator>
  <cp:lastModifiedBy>OL B2B System</cp:lastModifiedBy>
  <cp:revision>1</cp:revision>
  <dcterms:created xsi:type="dcterms:W3CDTF">2026-03-13T01:31:55Z</dcterms:created>
  <dcterms:modified xsi:type="dcterms:W3CDTF">2026-03-13T01:31:55Z</dcterms:modified>
</cp:coreProperties>
</file>